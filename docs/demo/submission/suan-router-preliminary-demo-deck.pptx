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296d0dc344ab8" /><Relationship Type="http://schemas.openxmlformats.org/officeDocument/2006/relationships/extended-properties" Target="/docProps/app.xml" Id="R1c193768e7814b76" /><Relationship Type="http://schemas.openxmlformats.org/officeDocument/2006/relationships/officeDocument" Target="/ppt/presentation.xml" Id="R07adba88caae4d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7022ac6f44b05"/>
  </p:sldMasterIdLst>
  <p:notesMasterIdLst>
    <p:notesMasterId xmlns:r="http://schemas.openxmlformats.org/officeDocument/2006/relationships" r:id="R1d97b8ffaaff4ac8"/>
  </p:notesMasterIdLst>
  <p:sldIdLst>
    <p:sldId xmlns:r="http://schemas.openxmlformats.org/officeDocument/2006/relationships" id="256" r:id="R4c6f779bf5b74eb3"/>
    <p:sldId xmlns:r="http://schemas.openxmlformats.org/officeDocument/2006/relationships" id="257" r:id="Rd58f6db023ce488d"/>
    <p:sldId xmlns:r="http://schemas.openxmlformats.org/officeDocument/2006/relationships" id="258" r:id="R4aa5f0efb05341b8"/>
    <p:sldId xmlns:r="http://schemas.openxmlformats.org/officeDocument/2006/relationships" id="259" r:id="R9cb70b2dfd8640cf"/>
    <p:sldId xmlns:r="http://schemas.openxmlformats.org/officeDocument/2006/relationships" id="260" r:id="R76666dd5410e448d"/>
    <p:sldId xmlns:r="http://schemas.openxmlformats.org/officeDocument/2006/relationships" id="261" r:id="Rb76bba7eb35c4583"/>
    <p:sldId xmlns:r="http://schemas.openxmlformats.org/officeDocument/2006/relationships" id="262" r:id="Ra993924acb81469a"/>
    <p:sldId xmlns:r="http://schemas.openxmlformats.org/officeDocument/2006/relationships" id="263" r:id="Rcfc2c3db0a3b4739"/>
    <p:sldId xmlns:r="http://schemas.openxmlformats.org/officeDocument/2006/relationships" id="264" r:id="R100234ffb646419c"/>
    <p:sldId xmlns:r="http://schemas.openxmlformats.org/officeDocument/2006/relationships" id="265" r:id="R01319f4b52ef43ae"/>
    <p:sldId xmlns:r="http://schemas.openxmlformats.org/officeDocument/2006/relationships" id="266" r:id="Ra77b394de8f24038"/>
    <p:sldId xmlns:r="http://schemas.openxmlformats.org/officeDocument/2006/relationships" id="267" r:id="R5085fc7c3d7940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26a11e4234658" /><Relationship Type="http://schemas.openxmlformats.org/officeDocument/2006/relationships/slideMaster" Target="/ppt/slideMasters/slideMaster1.xml" Id="R6c17022ac6f44b05" /><Relationship Type="http://schemas.openxmlformats.org/officeDocument/2006/relationships/notesMaster" Target="/ppt/notesMasters/notesMaster1.xml" Id="R1d97b8ffaaff4ac8" /><Relationship Type="http://schemas.openxmlformats.org/officeDocument/2006/relationships/presProps" Target="/ppt/presProps.xml" Id="R3892146d94e74fc2" /><Relationship Type="http://schemas.openxmlformats.org/officeDocument/2006/relationships/tableStyles" Target="/ppt/tableStyles.xml" Id="R70e3e1b3681a4d93" /><Relationship Type="http://schemas.openxmlformats.org/officeDocument/2006/relationships/slide" Target="/ppt/slides/slide1.xml" Id="R4c6f779bf5b74eb3" /><Relationship Type="http://schemas.openxmlformats.org/officeDocument/2006/relationships/slide" Target="/ppt/slides/slide2.xml" Id="Rd58f6db023ce488d" /><Relationship Type="http://schemas.openxmlformats.org/officeDocument/2006/relationships/slide" Target="/ppt/slides/slide3.xml" Id="R4aa5f0efb05341b8" /><Relationship Type="http://schemas.openxmlformats.org/officeDocument/2006/relationships/slide" Target="/ppt/slides/slide4.xml" Id="R9cb70b2dfd8640cf" /><Relationship Type="http://schemas.openxmlformats.org/officeDocument/2006/relationships/slide" Target="/ppt/slides/slide5.xml" Id="R76666dd5410e448d" /><Relationship Type="http://schemas.openxmlformats.org/officeDocument/2006/relationships/slide" Target="/ppt/slides/slide6.xml" Id="Rb76bba7eb35c4583" /><Relationship Type="http://schemas.openxmlformats.org/officeDocument/2006/relationships/slide" Target="/ppt/slides/slide7.xml" Id="Ra993924acb81469a" /><Relationship Type="http://schemas.openxmlformats.org/officeDocument/2006/relationships/slide" Target="/ppt/slides/slide8.xml" Id="Rcfc2c3db0a3b4739" /><Relationship Type="http://schemas.openxmlformats.org/officeDocument/2006/relationships/slide" Target="/ppt/slides/slide9.xml" Id="R100234ffb646419c" /><Relationship Type="http://schemas.openxmlformats.org/officeDocument/2006/relationships/slide" Target="/ppt/slides/slide10.xml" Id="R01319f4b52ef43ae" /><Relationship Type="http://schemas.openxmlformats.org/officeDocument/2006/relationships/slide" Target="/ppt/slides/slide11.xml" Id="Ra77b394de8f24038" /><Relationship Type="http://schemas.openxmlformats.org/officeDocument/2006/relationships/slide" Target="/ppt/slides/slide12.xml" Id="R5085fc7c3d79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4e26fee4e447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bf95fc82641ac" /><Relationship Type="http://schemas.openxmlformats.org/officeDocument/2006/relationships/notesMaster" Target="/ppt/notesMasters/notesMaster1.xml" Id="R32c9b2e8229746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9fc8763f949e3" /><Relationship Type="http://schemas.openxmlformats.org/officeDocument/2006/relationships/notesMaster" Target="/ppt/notesMasters/notesMaster1.xml" Id="R21de2ba4df96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5c0a6262b49b5" /><Relationship Type="http://schemas.openxmlformats.org/officeDocument/2006/relationships/notesMaster" Target="/ppt/notesMasters/notesMaster1.xml" Id="Ra890bb80fce940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cfc5488694278" /><Relationship Type="http://schemas.openxmlformats.org/officeDocument/2006/relationships/notesMaster" Target="/ppt/notesMasters/notesMaster1.xml" Id="R263008e0ebdc4b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98290f76b44a9" /><Relationship Type="http://schemas.openxmlformats.org/officeDocument/2006/relationships/notesMaster" Target="/ppt/notesMasters/notesMaster1.xml" Id="Ra5c2fc75974c49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fb9020cf9f4215" /><Relationship Type="http://schemas.openxmlformats.org/officeDocument/2006/relationships/notesMaster" Target="/ppt/notesMasters/notesMaster1.xml" Id="Rb42418fb7790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c30d9c7fd240e7" /><Relationship Type="http://schemas.openxmlformats.org/officeDocument/2006/relationships/notesMaster" Target="/ppt/notesMasters/notesMaster1.xml" Id="Rf393ab99eb1148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41ca027f8a40d7" /><Relationship Type="http://schemas.openxmlformats.org/officeDocument/2006/relationships/notesMaster" Target="/ppt/notesMasters/notesMaster1.xml" Id="R33de682b0929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d3828f538483f" /><Relationship Type="http://schemas.openxmlformats.org/officeDocument/2006/relationships/notesMaster" Target="/ppt/notesMasters/notesMaster1.xml" Id="R0aa24e7cb0d1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3c905a1384245" /><Relationship Type="http://schemas.openxmlformats.org/officeDocument/2006/relationships/notesMaster" Target="/ppt/notesMasters/notesMaster1.xml" Id="R48544a8793c84f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1fa507823b426a" /><Relationship Type="http://schemas.openxmlformats.org/officeDocument/2006/relationships/notesMaster" Target="/ppt/notesMasters/notesMaster1.xml" Id="R4b9226fd17a14c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1d77dc6e04fae" /><Relationship Type="http://schemas.openxmlformats.org/officeDocument/2006/relationships/notesMaster" Target="/ppt/notesMasters/notesMaster1.xml" Id="Rd7aeb025f423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开场：说明本项目面向赛题2，核心是对真实 NPU 推理集群做动态负载感知调度。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说明这版 PPT 采用浅色数据产品风格，不做炫技背景，而是让架构、公式和实验数据更容易读。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本页讲评审标准：不是堆功能，而是把每个评分维度都对应到真实实验。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讲清楚为什么静态轮询不够：它不知道 NPU3 正在被外部压力打满。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本页讲架构：router 是前置网关，不改客户端接口，也不侵入模型服务。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讲算法两层：目标权重响应真实负载，有效权重做平滑。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本页用于初赛的技术路线图，讲从信号到调度再到验证。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重点数据：SWRR 19.96%，P2C 0%，balanced 3.94%。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平滑迁移是赛题硬要求。本页讲数据逼近理论占比且 0 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讲清楚高可用和资源池隔离两类能力。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7B 实验用于补跨模型证据，不把 p95 包装成优势。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结尾：说明材料对应初赛要求，可直接仓库提交，视频上传数据集。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4211da1d0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6fea203b44ad0" /><Relationship Type="http://schemas.openxmlformats.org/officeDocument/2006/relationships/slideLayout" Target="/ppt/slideLayouts/slideLayout1.xml" Id="R9ac8fb6bc543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8fb6bc543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53992c2cb4ea6" /><Relationship Type="http://schemas.openxmlformats.org/officeDocument/2006/relationships/notesSlide" Target="/ppt/notesSlides/notesSlide1.xml" Id="Rf3d7a893579e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5afbb505c4ba1" /><Relationship Type="http://schemas.openxmlformats.org/officeDocument/2006/relationships/notesSlide" Target="/ppt/notesSlides/notesSlide2.xml" Id="R002f4d71683b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cfda1203148c4" /><Relationship Type="http://schemas.openxmlformats.org/officeDocument/2006/relationships/notesSlide" Target="/ppt/notesSlides/notesSlide3.xml" Id="R6c9d5dac6fbd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009ec1b2448c8" /><Relationship Type="http://schemas.openxmlformats.org/officeDocument/2006/relationships/notesSlide" Target="/ppt/notesSlides/notesSlide4.xml" Id="Rbaa66a997540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f19bca0b4c93" /><Relationship Type="http://schemas.openxmlformats.org/officeDocument/2006/relationships/notesSlide" Target="/ppt/notesSlides/notesSlide5.xml" Id="R3263730d48fa4b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8a4410de946ea" /><Relationship Type="http://schemas.openxmlformats.org/officeDocument/2006/relationships/notesSlide" Target="/ppt/notesSlides/notesSlide6.xml" Id="R09b2db15a08d4c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c89ef9e304418" /><Relationship Type="http://schemas.openxmlformats.org/officeDocument/2006/relationships/notesSlide" Target="/ppt/notesSlides/notesSlide7.xml" Id="R3b9219ea195848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6e64da3574840" /><Relationship Type="http://schemas.openxmlformats.org/officeDocument/2006/relationships/notesSlide" Target="/ppt/notesSlides/notesSlide8.xml" Id="R8851e17884d743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900b13227427e" /><Relationship Type="http://schemas.openxmlformats.org/officeDocument/2006/relationships/notesSlide" Target="/ppt/notesSlides/notesSlide9.xml" Id="R6097cfb254854f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1d91743a84f73" /><Relationship Type="http://schemas.openxmlformats.org/officeDocument/2006/relationships/notesSlide" Target="/ppt/notesSlides/notesSlide10.xml" Id="R435b8820340e41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96a93de7548f5" /><Relationship Type="http://schemas.openxmlformats.org/officeDocument/2006/relationships/notesSlide" Target="/ppt/notesSlides/notesSlide11.xml" Id="R5f2d09d41642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d2e1425344f6b" /><Relationship Type="http://schemas.openxmlformats.org/officeDocument/2006/relationships/notesSlide" Target="/ppt/notesSlides/notesSlide12.xml" Id="R5faa51dc80e7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162BA-D808-4BF4-BC06-49EC4E5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92F0-6CB4-4E84-9FE9-1498A481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857A6-0CA5-4141-AB11-C9A36D7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78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A089E-24BE-4073-BF93-B5E3B11F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762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86A6"/>
                </a:solidFill>
              </a:defRPr>
            </a:pPr>
            <a:r>
              <a:rPr sz="938" b="1">
                <a:solidFill>
                  <a:srgbClr val="0786A6"/>
                </a:solidFill>
              </a:rPr>
              <a:t>赛题2 · 动态负载感知调度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39096-3D0A-402C-BDE2-95AAAA30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昇腾 NPU 推理集群</a:t>
            </a:r>
          </a:p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动态负载感知调度系统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92B8E-A85B-4BE9-B7A4-6C06865E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5"/>
                </a:solidFill>
              </a:defRPr>
            </a:pPr>
            <a:r>
              <a:rPr sz="1500" b="0">
                <a:solidFill>
                  <a:srgbClr val="5B6675"/>
                </a:solidFill>
              </a:rPr>
              <a:t>suan-router：OpenAI-compatible router for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43461-08FB-4391-A6B7-2DA1F9EC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238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22D57-ABF3-4350-8554-0518ABA6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8A0CA-AA5D-46EF-AC7D-A94D5DB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86A6"/>
                </a:solidFill>
              </a:defRPr>
            </a:pPr>
            <a:r>
              <a:rPr sz="2400" b="1">
                <a:solidFill>
                  <a:srgbClr val="0786A6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F2B8B-AB85-4ADA-AB63-C8C08E0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真实 Ascend NPU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AC319-68A8-4ED6-8B81-BB23DAB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NPU 3-7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615D5-E695-4D30-9662-EE4511D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90950"/>
            <a:ext cx="2238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584EC-DD1F-444A-98C8-ECA7273E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90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960FB-2187-45DD-B953-6E922C2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815F"/>
                </a:solidFill>
              </a:defRPr>
            </a:pPr>
            <a:r>
              <a:rPr sz="2400" b="1">
                <a:solidFill>
                  <a:srgbClr val="12815F"/>
                </a:solidFill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44957-40FD-4365-B59F-5BA4DE15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5770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正式实验分组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95948-7132-4E0C-82F1-30BD063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672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exp1-exp8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303D8-3442-4239-95F9-626F428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2238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3BB58-A92B-4D0D-99A7-4DB1902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0D830-E799-4E26-A449-E2EE38B8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6"/>
                </a:solidFill>
              </a:defRPr>
            </a:pPr>
            <a:r>
              <a:rPr sz="2400" b="1">
                <a:solidFill>
                  <a:srgbClr val="C43D36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EC4AB-6407-4095-A67A-12E0976A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5770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fake 进入主结论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BD3B2-E5A6-4D41-AB36-1FFC047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672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只作开发夹具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FC69E-CB28-4D6C-8DC9-B27003DF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2238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86F4B-5498-4D4E-A396-78DB929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91852-0CB2-4F8A-8F24-F3C9ABDB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A00"/>
                </a:solidFill>
              </a:defRPr>
            </a:pPr>
            <a:r>
              <a:rPr sz="2400" b="1">
                <a:solidFill>
                  <a:srgbClr val="C47A00"/>
                </a:solidFill>
              </a:rPr>
              <a:t>7B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A2F95-F6D3-4E3A-80C5-B13CEC4B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泛化补充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697BD-0033-4A44-B88D-76F4E63F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Qwen2.5-7B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254AB-BA3F-4D3F-929F-A87CD56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895350"/>
            <a:ext cx="2857500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42369-8A9E-4ACF-96B3-DE084C9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81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核心能力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416EB5-DFEC-4404-87CA-4CBF7DD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04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753DD6-2BC3-425F-93C1-D7CE3C44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38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真实负载感知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51C57-AE72-4028-AEE6-E3E534E3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FF26C-3FA0-45D7-8E68-26AAD44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平滑权重迁移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BAA13-BD98-4F9A-ACA9-3972B32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889E9-2DEB-4713-97B9-FF11B000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故障摘除与恢复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A8BB2-85C2-411E-B3DA-999922AC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初赛提交材料：设计方案、技术路线图、5分钟以内原型展示视频</a:t>
            </a:r>
          </a:p>
        </p:txBody>
      </p:sp>
    </p:spTree>
    <p:extLst>
      <p:ext uri="{BB962C8B-B14F-4D97-AF65-F5344CB8AC3E}">
        <p14:creationId xmlns:p14="http://schemas.microsoft.com/office/powerpoint/2010/main" val="324285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1ADBA-4B8E-428A-B0B8-E6796D72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31DE6-4B97-4498-B656-BCDFAE2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视觉策略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A1A7F-74FA-416B-8DF0-AFAE6DC2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浅色技术汇报风格：克制、清晰、证据优先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4D8F-78F9-4245-B1C8-C42DC69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参考现代企业设计系统的浅色背景、色彩角色和低噪声数据可视化。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3BAF0-6356-49CE-B8DC-86BE4F1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D443B-3EBC-4F51-AFB0-B4866B19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2A09A-928B-4B11-AD99-2EDD603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81BC7-8F5D-404D-B66E-E898388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58CDC-E9A7-4940-8B01-40FFFA9D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白/灰分层背景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75931-4F70-424C-95CE-A088084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白底、浅灰工作区、细边线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545AA-B5C8-4951-9F93-3F67BD73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975E1-A6AC-472A-BDA0-6DAF2852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F3707-66D5-4745-B8B9-4DD9C215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6A6"/>
                </a:solidFill>
              </a:defRPr>
            </a:pPr>
            <a:r>
              <a:rPr sz="1500" b="1">
                <a:solidFill>
                  <a:srgbClr val="0786A6"/>
                </a:solidFill>
              </a:rPr>
              <a:t>蓝/青主色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F244-B3D6-42EE-986E-EF94A0DA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用于系统路径、指标流、架构连接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CFFE-D8CC-4E14-A041-18ADA0F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8327D-AF19-4892-A292-4CAB0E0F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341AE-05DA-4F8B-8C98-ED82BF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15F"/>
                </a:solidFill>
              </a:defRPr>
            </a:pPr>
            <a:r>
              <a:rPr sz="1500" b="1">
                <a:solidFill>
                  <a:srgbClr val="12815F"/>
                </a:solidFill>
              </a:rPr>
              <a:t>绿表示优化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0DE63-89AC-439F-815F-5AA2743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用于健康、通过、性能提升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B5FC4-9FF7-4520-B35C-B484082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F0BA4-F891-438E-A2C4-CF537F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B7C59-FC74-4E21-9BD1-663B26B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A00"/>
                </a:solidFill>
              </a:defRPr>
            </a:pPr>
            <a:r>
              <a:rPr sz="1500" b="1">
                <a:solidFill>
                  <a:srgbClr val="C47A00"/>
                </a:solidFill>
              </a:rPr>
              <a:t>琥珀/红色限制使用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16DE-A113-46CE-A8A1-757D4D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用于策略提醒、热点和风险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1E74A-13E6-4974-9803-5C921210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9FE4B-4DC3-4863-9709-D7D3739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9906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436B1-F24B-4D80-83C9-12B4954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版式类型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93DE7-A294-44F3-9414-0A2F3A11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封面 hero / 双栏解释 / 中央架构图 / 数据对比页 / 时间线 / 证据矩阵 / 提交清单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81E6E-E64F-4A91-9F30-F3A3754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参考：IBM Carbon、Microsoft Fluent、Material 3 与 Atlassian 的浅色中性色、角色色和可访问性配色思路。</a:t>
            </a:r>
          </a:p>
        </p:txBody>
      </p:sp>
    </p:spTree>
    <p:extLst>
      <p:ext uri="{BB962C8B-B14F-4D97-AF65-F5344CB8AC3E}">
        <p14:creationId xmlns:p14="http://schemas.microsoft.com/office/powerpoint/2010/main" val="2033922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A286D-6E4D-42B8-8328-BF63CB97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4BA82-5988-496E-88BF-C62633C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赛题对齐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99004-2649-43D9-B596-E123ACA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三项评分标准如何落到系统与实验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024A6-9344-49B7-93E9-4BE53CB6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把创意、算力网特性和可行性都映射到可验证交付物。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69AD-B1F8-4F24-9E15-C590133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9BDB4-77BA-4EE5-8CCA-409A6FE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22EA8-C8E7-45E4-8FC0-54C9B14B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AA03D-D380-4405-874D-B10CE2B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2766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3A558-8A93-47BE-B93E-287955AC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43801-01B0-40DA-8077-544FF91A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6A6"/>
                </a:solidFill>
              </a:defRPr>
            </a:pPr>
            <a:r>
              <a:rPr sz="1650" b="1">
                <a:solidFill>
                  <a:srgbClr val="0786A6"/>
                </a:solidFill>
              </a:rPr>
              <a:t>创意新颖性 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5A8A6-198C-41D8-8DD7-97DBAF1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P2C + smooth WRR + balanced 探测份额；不是只做静态轮询。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4719E-DC0D-446F-8147-64E7F2C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32766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CE8C2-9AD8-4165-9F2D-845D585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AC17A-5CC8-4DAA-A5E7-427BB37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815F"/>
                </a:solidFill>
              </a:defRPr>
            </a:pPr>
            <a:r>
              <a:rPr sz="1650" b="1">
                <a:solidFill>
                  <a:srgbClr val="12815F"/>
                </a:solidFill>
              </a:rPr>
              <a:t>算力网特性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22E29-973F-4998-A74F-162689C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vLLM 指标、健康、capacity 与资源池共同决定实时权重。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BC21A-B475-44E8-84CC-EF3DD24E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2766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57DE0-092E-46D0-98CB-48684AC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A64A4-01FF-406D-BC48-D342875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7A00"/>
                </a:solidFill>
              </a:defRPr>
            </a:pPr>
            <a:r>
              <a:rPr sz="1650" b="1">
                <a:solidFill>
                  <a:srgbClr val="C47A00"/>
                </a:solidFill>
              </a:rPr>
              <a:t>方案可行性 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065CF-038E-43EA-9FA1-878123C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真实 Ascend 910B NPU、OpenAI 接口、完整 runbook 与数据入仓。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BCDDE-CCAF-4BBE-92B6-4CA9540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2286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2E1B9-A56E-4C53-9C31-FC99603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2E23D-0F60-4FD9-B215-DD7E97B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340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815F"/>
                </a:solidFill>
              </a:defRPr>
            </a:pPr>
            <a:r>
              <a:rPr sz="2400" b="1">
                <a:solidFill>
                  <a:srgbClr val="12815F"/>
                </a:solidFill>
              </a:rPr>
              <a:t>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C20BB-E9FB-40EE-BB6B-B212386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10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热点节点流量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9C364-20BF-41B0-9261-4F7E0071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19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exp2 P2C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203CB-6033-49BE-86D9-88F5D4AC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91E9C-6E78-4F1F-85A1-9CEF6C9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1D57C-90A3-4435-A176-F0F1CD4D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340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86A6"/>
                </a:solidFill>
              </a:defRPr>
            </a:pPr>
            <a:r>
              <a:rPr sz="2400" b="1">
                <a:solidFill>
                  <a:srgbClr val="0786A6"/>
                </a:solidFill>
              </a:rPr>
              <a:t>2.37%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84D42-FD2E-4F86-883A-D0D5A86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10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降容稳定占比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E9D26-2674-4732-8AF9-4C966B44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19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理论 2.44%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5BF85-38C8-41E6-ACD5-A8EA9453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2286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9DD2B-D4CA-4926-8920-8F438F4D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B4D23-07FF-409F-8394-2DD4D7B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340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A00"/>
                </a:solidFill>
              </a:defRPr>
            </a:pPr>
            <a:r>
              <a:rPr sz="2400" b="1">
                <a:solidFill>
                  <a:srgbClr val="C47A00"/>
                </a:solidFill>
              </a:rPr>
              <a:t>0.02%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DF586-CAA1-4A49-AF2C-E3ABA400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10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故障稳定期占比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485D20-116E-4A61-BC49-D6D50AFA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NPU5 摘除</a:t>
            </a:r>
          </a:p>
        </p:txBody>
      </p:sp>
    </p:spTree>
    <p:extLst>
      <p:ext uri="{BB962C8B-B14F-4D97-AF65-F5344CB8AC3E}">
        <p14:creationId xmlns:p14="http://schemas.microsoft.com/office/powerpoint/2010/main" val="363624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B3625A-EB83-4497-A290-0162DA0C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A8F3A-FAB2-4367-BFF3-EC8EDE7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95428-2C31-4F58-90D4-BC27B492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热点效应：静态轮询看不到真实后端状态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F4AF6-F838-4A38-89F2-222A284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后端 capacity、健康状态和外部压力在推理服务中持续变化。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ECFBF-03F9-43AB-BE23-8E5B1D5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401E2-06D6-41A9-96FC-95F76E50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FD3DD-07D1-4B49-A039-CAE852A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753F8-EBFE-4A10-8FF9-A9D5C12A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7145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B5C47-FED2-4EE9-A328-B84C952B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36"/>
                </a:solidFill>
              </a:defRPr>
            </a:pPr>
            <a:r>
              <a:rPr sz="1275" b="1">
                <a:solidFill>
                  <a:srgbClr val="C43D36"/>
                </a:solidFill>
              </a:rPr>
              <a:t>NPU3 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BD650-9EB5-4AFA-BC64-592DF17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1CE18-ED77-4AEB-A17D-DCC2A45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43D36"/>
          </a:solidFill>
          <a:ln xmlns:a="http://schemas.openxmlformats.org/drawingml/2006/main" w="9525">
            <a:solidFill>
              <a:srgbClr val="C43D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91BEA-33E5-4F60-9312-60FEEE8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</a:defRPr>
            </a:pPr>
            <a:r>
              <a:rPr sz="975" b="0">
                <a:solidFill>
                  <a:srgbClr val="5B6675"/>
                </a:solidFill>
              </a:rPr>
              <a:t>静态份额 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924FE-BB51-4C7E-92B8-3F9EB6F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7145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567D3-7907-4D23-9E32-6DAEED3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15F"/>
                </a:solidFill>
              </a:defRPr>
            </a:pPr>
            <a:r>
              <a:rPr sz="1275" b="1">
                <a:solidFill>
                  <a:srgbClr val="12815F"/>
                </a:solidFill>
              </a:rPr>
              <a:t>NPU4 空闲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62D20-2A54-46A8-8262-FCE217A8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EB930-F0D2-47BD-98EE-36D4C5B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C8F33-2ABE-4C95-AB5B-A6E9885B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</a:defRPr>
            </a:pPr>
            <a:r>
              <a:rPr sz="975" b="0">
                <a:solidFill>
                  <a:srgbClr val="5B6675"/>
                </a:solidFill>
              </a:rPr>
              <a:t>静态份额 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4DDB0-EC6F-413B-AF04-B6F020B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7145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62A80-36DB-4119-B9EB-3B1429F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15F"/>
                </a:solidFill>
              </a:defRPr>
            </a:pPr>
            <a:r>
              <a:rPr sz="1275" b="1">
                <a:solidFill>
                  <a:srgbClr val="12815F"/>
                </a:solidFill>
              </a:rPr>
              <a:t>NPU5 空闲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61B23-D889-44CE-B03D-327CEC3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C1D29-A84A-4FED-93FB-3F02A7E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8145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E2CAC-61D6-4B25-8FC1-4923EB9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00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</a:defRPr>
            </a:pPr>
            <a:r>
              <a:rPr sz="975" b="0">
                <a:solidFill>
                  <a:srgbClr val="5B6675"/>
                </a:solidFill>
              </a:rPr>
              <a:t>静态份额 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8D0FF-08B3-4086-97D7-9EE8CEC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7145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5781C-891C-4D2E-8AF5-BD62ECB2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15F"/>
                </a:solidFill>
              </a:defRPr>
            </a:pPr>
            <a:r>
              <a:rPr sz="1275" b="1">
                <a:solidFill>
                  <a:srgbClr val="12815F"/>
                </a:solidFill>
              </a:rPr>
              <a:t>NPU6 空闲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628D8-618B-492A-BA01-7CA851E7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0A2C0-0E96-4203-80BC-3E964D36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96797-E084-43CC-B533-5193B8FD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</a:defRPr>
            </a:pPr>
            <a:r>
              <a:rPr sz="975" b="0">
                <a:solidFill>
                  <a:srgbClr val="5B6675"/>
                </a:solidFill>
              </a:rPr>
              <a:t>静态份额 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D36C3-DDF6-4FCA-8DB6-DE9C82F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145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D9C71-06CF-45B4-8D77-0CC0D24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15F"/>
                </a:solidFill>
              </a:defRPr>
            </a:pPr>
            <a:r>
              <a:rPr sz="1275" b="1">
                <a:solidFill>
                  <a:srgbClr val="12815F"/>
                </a:solidFill>
              </a:rPr>
              <a:t>NPU7 空闲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C2AC52-B65F-430C-A57C-5684C2D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609600" cy="1143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FF63B-239F-4712-8F56-BBFE18DD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81450"/>
            <a:ext cx="609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67D1F-3629-4F31-879D-FE350F0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00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</a:defRPr>
            </a:pPr>
            <a:r>
              <a:rPr sz="975" b="0">
                <a:solidFill>
                  <a:srgbClr val="5B6675"/>
                </a:solidFill>
              </a:rPr>
              <a:t>静态份额 20%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B2F43-515C-4F6F-944B-BB704A3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98679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3C8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16375-A8CD-42BF-A06A-F481B43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6"/>
                </a:solidFill>
              </a:defRPr>
            </a:pPr>
            <a:r>
              <a:rPr sz="1350" b="1">
                <a:solidFill>
                  <a:srgbClr val="C43D36"/>
                </a:solidFill>
              </a:rPr>
              <a:t>风险：热点节点继续被选中，尾延迟放大；空闲节点却无法有效承接流量。</a:t>
            </a:r>
          </a:p>
        </p:txBody>
      </p:sp>
    </p:spTree>
    <p:extLst>
      <p:ext uri="{BB962C8B-B14F-4D97-AF65-F5344CB8AC3E}">
        <p14:creationId xmlns:p14="http://schemas.microsoft.com/office/powerpoint/2010/main" val="797619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1E9B53-AA2D-4CA6-B5AB-855D48C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F2591-6AD7-45A8-AC04-CD6F720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143B7-348C-45B0-8FE8-BB80D826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Router 前置 vLLM-Ascend 后端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FF673-7272-4838-A366-D33FD41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OpenAI-compatible 数据面、管理面、metrics 与资源池隔离分层设计。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1758-EDC0-4505-A633-ADACE96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5D508-1DB4-4EB7-8B25-D46A02E2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EA41C-2AB6-49B1-8E09-8F9F4BA5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E4670-2EA4-4285-89ED-FA7C436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095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ECD6A-63F3-4BCB-AF49-54D61249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26FDF-3E5B-42C0-B59F-55F9DC2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5"/>
                </a:solidFill>
              </a:defRPr>
            </a:pPr>
            <a:r>
              <a:rPr sz="938" b="0">
                <a:solidFill>
                  <a:srgbClr val="5B6675"/>
                </a:solidFill>
              </a:rPr>
              <a:t>/v1/chat/completions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50627-AA37-4E0E-AF11-92739D4B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857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19050">
            <a:solidFill>
              <a:srgbClr val="078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64F98-E027-4A71-9CBE-A1D4BBC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86A6"/>
                </a:solidFill>
              </a:defRPr>
            </a:pPr>
            <a:r>
              <a:rPr sz="2025" b="1">
                <a:solidFill>
                  <a:srgbClr val="0786A6"/>
                </a:solidFill>
              </a:rPr>
              <a:t>suan-router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02490-1019-4B0E-A474-275A2EE7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1600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8180 data</a:t>
            </a:r>
          </a:p>
          <a:p xmlns:a="http://schemas.openxmlformats.org/drawingml/2006/main">
            <a:pPr algn="ctr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8181 admin</a:t>
            </a:r>
          </a:p>
          <a:p xmlns:a="http://schemas.openxmlformats.org/drawingml/2006/main">
            <a:pPr algn="ctr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/metrics</a:t>
            </a:r>
          </a:p>
          <a:p xmlns:a="http://schemas.openxmlformats.org/drawingml/2006/main">
            <a:pPr algn="ctr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X-Resource-Pool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171B4-EE5B-4F82-BD3B-DB277918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62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93E64-B4EA-4AFE-BF9B-C2E3B89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600200" cy="-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8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65713-0FFD-46C4-8326-8ABF280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600200" cy="-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8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3ACCB-3C30-48D2-B023-DE313FD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6002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8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21BE7-F35D-4617-971C-6D90AD1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60020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8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E1DD6-9ABA-4136-AB86-517FD460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60020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8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6EA60-EA75-49FD-B1DF-260D2A6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152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534B2-3639-435B-819E-4C09CDE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621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NPU3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1A85C-95DA-4759-8FF5-37342D9A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71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</a:defRPr>
            </a:pPr>
            <a:r>
              <a:rPr sz="1050" b="0">
                <a:solidFill>
                  <a:srgbClr val="5B6675"/>
                </a:solidFill>
              </a:rPr>
              <a:t>vLLM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16806-8B88-4884-9711-51FECFD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152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9DB40-48E4-4DFF-880C-63B41573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479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NPU4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8F90D-E01C-47AF-ABD2-34EAFF09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</a:defRPr>
            </a:pPr>
            <a:r>
              <a:rPr sz="1050" b="0">
                <a:solidFill>
                  <a:srgbClr val="5B6675"/>
                </a:solidFill>
              </a:rPr>
              <a:t>vLLM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68F72-57D8-4138-BB2D-FFF2FE8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152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6BF09-423A-4376-AFE3-0A435473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NPU5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7DA3A-16F2-42DB-BE98-FCBA12D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</a:defRPr>
            </a:pPr>
            <a:r>
              <a:rPr sz="1050" b="0">
                <a:solidFill>
                  <a:srgbClr val="5B6675"/>
                </a:solidFill>
              </a:rPr>
              <a:t>vLLM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46708-8C3C-4B4E-8CBA-75984F1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2152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5C036-D1F2-4DBB-AFEB-6F60BAB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195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NPU6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29A78A-304C-4A0A-923F-C1A38EBB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291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</a:defRPr>
            </a:pPr>
            <a:r>
              <a:rPr sz="1050" b="0">
                <a:solidFill>
                  <a:srgbClr val="5B6675"/>
                </a:solidFill>
              </a:rPr>
              <a:t>vLLM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5571D4-A70B-467B-8EC7-C964351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1526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B36E88-C27B-4AC6-8EF5-F166B55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05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NPU7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E459D-4644-4542-82E8-18817E2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149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</a:defRPr>
            </a:pPr>
            <a:r>
              <a:rPr sz="1050" b="0">
                <a:solidFill>
                  <a:srgbClr val="5B6675"/>
                </a:solidFill>
              </a:rPr>
              <a:t>vLLM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0CFACC-E2A0-4FD9-BD17-5179D58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9906000" cy="457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8778D-C766-416A-8743-1AD8D28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912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负载输入：health / capacity / inflight / vLLM running &amp; waiting / KV cache / latency EWMA</a:t>
            </a:r>
          </a:p>
        </p:txBody>
      </p:sp>
    </p:spTree>
    <p:extLst>
      <p:ext uri="{BB962C8B-B14F-4D97-AF65-F5344CB8AC3E}">
        <p14:creationId xmlns:p14="http://schemas.microsoft.com/office/powerpoint/2010/main" val="1668101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341A3-FEB2-4830-A8AD-669A3621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6B777-3232-4AD5-A002-808823B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核心算法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DE06-0271-4E3C-AC8F-DB255B6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动态目标权重 + smoothStep 有效权重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A0399-0FA4-4E6E-83C9-218ABE51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既能响应负载，又避免硬切换。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A8E22-B18E-47EA-9CEE-EA19D11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FEEA-6781-411B-83C2-5DAB7DE1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03DF8-7646-4D3E-891C-9DB1B4B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D95AD-2E1F-43FF-AFA8-6B2402D4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9530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079CA-4213-4861-9EDD-E4C3E19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load_score = f(util, queue, inflight, KV, latency)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headroom = 1 - load_score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desired_weight = capacity × headroom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effective += (desired - effective) × smooth_step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F9A4E-A95C-4DA8-BB55-1A5669F0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8196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4C170-27B4-4BEC-A175-A4DCBA65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后端状态机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15672-F92A-499E-B3E1-C01BE4C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742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2B8AA-474F-4932-B6A8-895C76DD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815F"/>
                </a:solidFill>
              </a:defRPr>
            </a:pPr>
            <a:r>
              <a:rPr sz="825" b="1">
                <a:solidFill>
                  <a:srgbClr val="12815F"/>
                </a:solidFill>
              </a:rPr>
              <a:t>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EC58E-21E4-4F77-836B-E1BA477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AC7C8-E6ED-4885-86CA-651E343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742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C47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6D547-77E2-4C41-9BBD-6308EA4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7A00"/>
                </a:solidFill>
              </a:defRPr>
            </a:pPr>
            <a:r>
              <a:rPr sz="825" b="1">
                <a:solidFill>
                  <a:srgbClr val="C47A00"/>
                </a:solidFill>
              </a:rPr>
              <a:t>drain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CC1FE-2934-4D77-A75D-51C53A9F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48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95B6F-B7FC-4AC0-B2C7-73D8AA01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742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C43D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6B6CB-591D-420B-9934-9DB9D65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3D36"/>
                </a:solidFill>
              </a:defRPr>
            </a:pPr>
            <a:r>
              <a:rPr sz="825" b="1">
                <a:solidFill>
                  <a:srgbClr val="C43D36"/>
                </a:solidFill>
              </a:rPr>
              <a:t>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1FC9B-237D-47FD-A92C-808803D4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48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EC77F-4600-4CDA-BC14-1DD1745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742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78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25935-D9DD-4E34-AEA9-8DB895A7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62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86A6"/>
                </a:solidFill>
              </a:defRPr>
            </a:pPr>
            <a:r>
              <a:rPr sz="825" b="1">
                <a:solidFill>
                  <a:srgbClr val="0786A6"/>
                </a:solidFill>
              </a:rPr>
              <a:t>recover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352CF-CE68-40EE-8615-32740023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48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5B49E-F749-40FA-A9ED-3D23865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29000"/>
            <a:ext cx="742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E051B-6C25-4915-9038-C35773B8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815F"/>
                </a:solidFill>
              </a:defRPr>
            </a:pPr>
            <a:r>
              <a:rPr sz="825" b="1">
                <a:solidFill>
                  <a:srgbClr val="12815F"/>
                </a:solidFill>
              </a:rPr>
              <a:t>active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71AF9-D09F-4745-BF52-EBDB7DA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67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8D9C9-2D33-4B5B-A52E-95B4C5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P2C：按有效权重采样两个候选，选择 load score 更低者。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A0EF5-7226-4C63-9849-B472C4E8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BFE10-6FBD-4FE0-98EA-02239FC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balanced P2C：保留少量探测份额，便于热点消退后恢复。</a:t>
            </a:r>
          </a:p>
        </p:txBody>
      </p:sp>
    </p:spTree>
    <p:extLst>
      <p:ext uri="{BB962C8B-B14F-4D97-AF65-F5344CB8AC3E}">
        <p14:creationId xmlns:p14="http://schemas.microsoft.com/office/powerpoint/2010/main" val="413031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2E1B4-1208-4C1A-AF9C-863A26B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EAD5-5567-40E9-85B5-DE416EB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技术路线图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BD3AD-B25A-4B45-92B8-8473BE2E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从可观测信号到调度决策，再到真实 NPU 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03318-A941-440F-B0AC-3461D4F5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每一步都有对应代码模块和实验。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64CC3-E342-4397-A94D-BC2543F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80A96-CAE1-4928-932A-6A5C3196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4BBC-E1A6-4512-867E-F4099894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A1922-83C4-4D8D-AF64-1387DC7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66950" cy="247650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A384-EAAD-4039-9E27-E62DAAC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ED154-7BE7-42BE-BA6B-1D66F65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76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93588-FA8B-4ACA-8687-E731BCA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指标接入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A49C9-A6C1-48E4-9526-D463BA2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metrics、健康、并发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4B34A-7019-4983-9C45-775959E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E5D4F-2C3F-42D9-B665-0DA5A488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266950" cy="247650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BE37A-7C20-48E4-AA6D-01A603D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FA02B-C10F-42F5-806F-CDD04F9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098F9-ED11-4B8E-B241-2013E3A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动态权重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81E04-E792-4AA2-8C01-C62DE361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capacity × headroom + smoothStep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21EDC-41A4-41F2-8A1A-4648362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ADA66-87D6-442E-9F78-6CC9F0D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266950" cy="247650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735CC-95E2-468F-A301-CD22611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065BD-2DE7-4F43-8A45-A1F2076F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76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63D70-B65E-4FD0-B973-68A1EB4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安全状态机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88863-C1AC-484E-ADE8-370F413F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冷却、摘除、慢启动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48EDE-85E0-42D1-86AD-DADF5B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548F8-86BE-4945-8D39-078FE8E0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266950" cy="247650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B9546-19D9-4F92-87BD-563B647F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FDCD9-58B1-44FE-88F0-79A1439F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76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B09A8-B515-43B5-97D9-7B7162F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实验证据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4522F-E7D4-4ACC-8098-3346014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exp1-exp8 真实 NPU 数据入仓</a:t>
            </a:r>
          </a:p>
        </p:txBody>
      </p:sp>
    </p:spTree>
    <p:extLst>
      <p:ext uri="{BB962C8B-B14F-4D97-AF65-F5344CB8AC3E}">
        <p14:creationId xmlns:p14="http://schemas.microsoft.com/office/powerpoint/2010/main" val="213391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224BB-ADEA-4D65-AFED-13772D0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A5416-2EBF-4DCE-8E48-0240A7C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真实实验 · 热点避让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A8617-8BBB-4486-A3BD-C636BDC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NPU3 外部压力下，P2C 自动避开热点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27BA4-E0EA-45D6-8C3F-C3D4F35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SWRR 不配置 metrics，作为静态基线；动态组读取 vLLM /metrics。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7370-D020-44C4-B246-0202132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42D1E-3BFA-4233-8A6A-CBCEEA4E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E3B46-F6D2-4239-8C4E-0F92563F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EF8AB-5585-4886-A7D2-2362CC6C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7627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E0B16-4BAE-46DA-A67F-EF6DF125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NPU3 测量流量占比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5230E-2DD9-4634-8E4D-0D7C0FF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SWRR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A6AC7-56A1-4987-90E9-30ADF15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19450"/>
            <a:ext cx="28575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8EABD-D57A-4EFB-A330-9409C09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19450"/>
            <a:ext cx="2281428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C43D36"/>
          </a:solidFill>
          <a:ln xmlns:a="http://schemas.openxmlformats.org/drawingml/2006/main" w="9525">
            <a:solidFill>
              <a:srgbClr val="C43D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B996B-91E1-4DA8-A81A-B75C94A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90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3D36"/>
                </a:solidFill>
              </a:defRPr>
            </a:pPr>
            <a:r>
              <a:rPr sz="1200" b="1">
                <a:solidFill>
                  <a:srgbClr val="C43D36"/>
                </a:solidFill>
              </a:rPr>
              <a:t>19.96%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89AA0-D505-422E-B3AF-A36AD1E8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P2C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3D838-0FA5-4C93-937C-76AE16F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38600"/>
            <a:ext cx="28575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BEA5D-4756-43F8-9F02-9EF9D93E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38600"/>
            <a:ext cx="285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AD470-5353-49E3-A649-FCF267B6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00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15F"/>
                </a:solidFill>
              </a:defRPr>
            </a:pPr>
            <a:r>
              <a:rPr sz="1200" b="1">
                <a:solidFill>
                  <a:srgbClr val="12815F"/>
                </a:solidFill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3765F-FAE2-4E1F-8E27-A1B686C9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balanced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1220E-86C1-41FE-B3F0-27C3BD4F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57750"/>
            <a:ext cx="28575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2CB10-502E-4D70-8902-47261E6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57750"/>
            <a:ext cx="450342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786A6"/>
          </a:solidFill>
          <a:ln xmlns:a="http://schemas.openxmlformats.org/drawingml/2006/main" w="9525">
            <a:solidFill>
              <a:srgbClr val="078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B78D9-D91A-401E-BE93-AA098A0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291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6A6"/>
                </a:solidFill>
              </a:defRPr>
            </a:pPr>
            <a:r>
              <a:rPr sz="1200" b="1">
                <a:solidFill>
                  <a:srgbClr val="0786A6"/>
                </a:solidFill>
              </a:rPr>
              <a:t>3.94%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F9280-9515-4CFA-B426-4876809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4288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A4740-4419-4EAE-8CA8-68E12A5E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B2952-43AE-4C1D-9A5F-B951811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A00"/>
                </a:solidFill>
              </a:defRPr>
            </a:pPr>
            <a:r>
              <a:rPr sz="2400" b="1">
                <a:solidFill>
                  <a:srgbClr val="C47A00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26B38-FED8-41B7-8733-7940A4B5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remote_utilization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C29DC-4DD6-443F-A54D-7B38AA6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P2C 读到满载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3C356-FC90-49E3-A385-894E47B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24288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24450-63CF-4247-91A5-2F64436C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CE7DA-C733-40BD-B64D-03EC716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815F"/>
                </a:solidFill>
              </a:defRPr>
            </a:pPr>
            <a:r>
              <a:rPr sz="2400" b="1">
                <a:solidFill>
                  <a:srgbClr val="12815F"/>
                </a:solidFill>
              </a:rPr>
              <a:t>158.73ms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30C9B3-9A93-4F17-83D1-CF17A26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P2C p99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63E9A-40DD-450A-AF2D-8F3428F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SWRR 178.44ms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1F2E1-FEAF-46BD-A9B1-798398C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81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结论：动态调度将热点节点流量从约 20% 降到 0%；balanced P2C 保留受控探测份额。</a:t>
            </a:r>
          </a:p>
        </p:txBody>
      </p:sp>
    </p:spTree>
    <p:extLst>
      <p:ext uri="{BB962C8B-B14F-4D97-AF65-F5344CB8AC3E}">
        <p14:creationId xmlns:p14="http://schemas.microsoft.com/office/powerpoint/2010/main" val="1928669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4A340-78CB-4943-8DCB-687DFD40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279D9-6103-455F-A11A-703A5F66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真实实验 · 平滑降容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EA577-AA31-43F7-9B73-34CEC05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capacity 10 -&gt; 1 -&gt; 10：新请求迁移但不强制中断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7D755-0361-4B63-9E63-80EC558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稳定降容窗口接近理论占比，且全程 0 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39C22-A1EF-40E2-85A2-E487D56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C49A6-6EFA-43C2-91F0-340B10F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53D31-5798-4C60-B119-D5E8EE9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BC5C5-1B75-4C48-AA5A-9145F0F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7048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5D408-644B-4139-9E77-6AD16A1A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62409-56E7-4FA7-BEBF-95771DB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35092-21D9-4DF4-B695-E3F1F712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53741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30077-2995-4FF5-86C2-6103976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8491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A7218-77CF-4677-9870-94FA668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7832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3CBAA-3448-4A06-A83F-02B8B7E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2582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A51FF-040D-4DDE-B095-CAEBC2F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B7068-D580-4C77-97B5-3D1B68F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9A353-7F33-4A05-9402-97CD7C4F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7832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8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108BB-C857-48EF-818C-F960F7B7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7832"/>
            <a:ext cx="444500" cy="12053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8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129B0-F91E-42F7-BA7E-2CB99808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4293177"/>
            <a:ext cx="1778000" cy="321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8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BE840-534B-4EF3-8D23-7AA982C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50" y="4614430"/>
            <a:ext cx="889000" cy="-6797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8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D85B6-35BC-4FD8-951B-651781A3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3934691"/>
            <a:ext cx="889000" cy="-8321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8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6E449-EF19-4644-8ADD-9433076C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40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D9A05-BDB1-45F1-B637-B082D1FD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40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EF1BB-2CCA-4E71-85FE-16E4AAD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025" y="424555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B1D21-2441-49BD-BF00-8EC17A6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025" y="45668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B50BD-FE8A-412D-A6E5-9F78C96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3887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53D32-C18D-4318-ACFC-AA115AB8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5492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DA67D-B95E-4B9A-9A7E-C98639D7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2920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0s        30s 降容              80s 恢复              120s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D6D72-4AE5-445D-A0B3-BB76156C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476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01ECD-6AA2-4D5D-9824-7DBC3358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DAB38-11E0-405A-9231-48CDD694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815F"/>
                </a:solidFill>
              </a:defRPr>
            </a:pPr>
            <a:r>
              <a:rPr sz="2400" b="1">
                <a:solidFill>
                  <a:srgbClr val="12815F"/>
                </a:solidFill>
              </a:rPr>
              <a:t>2.37%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638D0-FF75-4564-B21F-6EC91963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稳定降容占比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A9C78-306E-4D38-9515-F4BFA9E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理论 2.44%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A78919-748D-4012-89C0-59D7AB1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476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47881-B242-4724-85D9-5E445A9A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B4B4D-41C9-46B5-8D6F-64F46354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86A6"/>
                </a:solidFill>
              </a:defRPr>
            </a:pPr>
            <a:r>
              <a:rPr sz="2400" b="1">
                <a:solidFill>
                  <a:srgbClr val="0786A6"/>
                </a:solidFill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73062B-A012-4752-ABB7-E2849B3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29,748 请求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29D96-95E9-4DE2-93EC-83F9E084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5"/>
                </a:solidFill>
              </a:defRPr>
            </a:pPr>
            <a:r>
              <a:rPr sz="900" b="0">
                <a:solidFill>
                  <a:srgbClr val="5B6675"/>
                </a:solidFill>
              </a:rPr>
              <a:t>错误数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5EE2B-C321-4297-A383-4EC2B9D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81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smoothStep=0.25 参数敏感性：稳定降容 2.31%，误差 0.13pp</a:t>
            </a:r>
          </a:p>
        </p:txBody>
      </p:sp>
    </p:spTree>
    <p:extLst>
      <p:ext uri="{BB962C8B-B14F-4D97-AF65-F5344CB8AC3E}">
        <p14:creationId xmlns:p14="http://schemas.microsoft.com/office/powerpoint/2010/main" val="133867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88AA9-92B0-45BE-8DB5-12019CFE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A288E-B891-4D82-92A0-56FD389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真实实验 · 高可用与资源池隔离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2EB8-7F06-4EA4-B5FE-E9E3A08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故障摘除、恢复慢启动、noisy neighbor 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DF3D-456B-44F1-A70C-B4163D28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故障实验只操作指定容器，不影响其他任务。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2A2BF-D6EE-42A8-9632-A545642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817B5-4082-4064-AA1A-091669F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B573A-CAC7-41C6-BE48-3ED9F27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E3A88-F1F6-4856-929C-74C19DF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953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E04ED-3DDA-4CA4-B78F-DDD1DEB8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故障恢复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A8ED0-ACD5-4E35-9633-C9FD5BC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4000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10496-FAAD-41A8-B7A4-5233C06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1B965-28F9-4ED6-A01E-2E608430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故障前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0190A-252C-421A-AA8C-AD927A64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NPU5 正常均衡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84FB0-0274-42CE-BC70-901C656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815F"/>
                </a:solidFill>
              </a:defRPr>
            </a:pPr>
            <a:r>
              <a:rPr sz="1650" b="1">
                <a:solidFill>
                  <a:srgbClr val="12815F"/>
                </a:solidFill>
              </a:rPr>
              <a:t>20.06%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B0465-3BF3-4C99-A700-7B82386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4000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CD930-4983-4760-AC13-BCFB2B7C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ADA0E-C61D-4B2A-837A-F2821EC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故障稳定期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86BC0-F4B1-4CAE-A488-BD4D6AD7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NPU5 已摘除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46887-7193-4D20-BD08-331DE54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C43D36"/>
                </a:solidFill>
              </a:defRPr>
            </a:pPr>
            <a:r>
              <a:rPr sz="1650" b="1">
                <a:solidFill>
                  <a:srgbClr val="C43D36"/>
                </a:solidFill>
              </a:rPr>
              <a:t>0.02%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5EA3E-3E1C-4CC2-B37E-78950D9F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4000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66608-F7ED-4E32-B093-074CC41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7632A-D919-4295-B668-640A56F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恢复末段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71A08-97D4-4AAC-A34C-4D29984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slow-start 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94012-A99F-4D3F-A825-92EF7CB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053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86A6"/>
                </a:solidFill>
              </a:defRPr>
            </a:pPr>
            <a:r>
              <a:rPr sz="1650" b="1">
                <a:solidFill>
                  <a:srgbClr val="0786A6"/>
                </a:solidFill>
              </a:rPr>
              <a:t>19.80%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2E9B1-8208-4A64-9AA9-382895FA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全过程 72,794 请求，3 错误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FA0DF-1B1A-44BC-865D-7E2B221D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953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EB8B9-7F50-479C-BDD1-2238CB10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资源池隔离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6378F-4F21-41D2-ACBF-41BF90E8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37338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946AC-29F4-4F30-9A48-B07DA993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29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6A6"/>
                </a:solidFill>
              </a:defRPr>
            </a:pPr>
            <a:r>
              <a:rPr sz="1275" b="1">
                <a:solidFill>
                  <a:srgbClr val="0786A6"/>
                </a:solidFill>
              </a:rPr>
              <a:t>default 池：28,218 请求，0 错误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BFBA39-ADF6-4418-A198-EB54693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37338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0E4D5-B488-4A02-83D8-38BACD9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2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A00"/>
                </a:solidFill>
              </a:defRPr>
            </a:pPr>
            <a:r>
              <a:rPr sz="1275" b="1">
                <a:solidFill>
                  <a:srgbClr val="C47A00"/>
                </a:solidFill>
              </a:rPr>
              <a:t>isolated 池：1,592 长请求承压</a:t>
            </a:r>
          </a:p>
        </p:txBody>
      </p:sp>
    </p:spTree>
    <p:extLst>
      <p:ext uri="{BB962C8B-B14F-4D97-AF65-F5344CB8AC3E}">
        <p14:creationId xmlns:p14="http://schemas.microsoft.com/office/powerpoint/2010/main" val="63260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DC6D2-423A-43D2-B7EA-9C39130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9578A-1174-4152-B7AE-9547E5B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补充实验 · 7B 泛化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8A13F-E0FA-472C-A9E6-01993327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Qwen2.5-7B 单卡后端上，热点避让仍然成立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311B8-EE9A-468F-9690-74E99F2C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回应“只验证小模型”的质疑；如实说明 p95 不作为优势结论。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8F06B-F1C6-4E5A-98C3-B0261BA4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D71E8-3865-4DFC-BD9C-BA82145D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A84AB-1756-4CDA-8C26-568A1E8C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B3A6D-B609-4A1D-92B5-D734E8BF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482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89BB4-8446-425B-90CD-8B9D594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NPU3 流量占比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B5BE9-8808-4672-9759-FFAC6CE0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SWRR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5CCEC-4342-4B7A-9C4B-755735E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16192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7BD64-9EB6-4A70-9E1D-DF551FA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1283094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C43D36"/>
          </a:solidFill>
          <a:ln xmlns:a="http://schemas.openxmlformats.org/drawingml/2006/main" w="9525">
            <a:solidFill>
              <a:srgbClr val="C43D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97298-443C-477E-8AC2-C3C27A17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3D36"/>
                </a:solidFill>
              </a:defRPr>
            </a:pPr>
            <a:r>
              <a:rPr sz="1200" b="1">
                <a:solidFill>
                  <a:srgbClr val="C43D36"/>
                </a:solidFill>
              </a:rPr>
              <a:t>19.81%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068DE-F693-4396-89FB-B553A4B2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P2C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25386-BEC9-45C6-9BD7-0D8C6218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057650"/>
            <a:ext cx="16192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B5EA5-E228-46E3-9755-7C192D8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057650"/>
            <a:ext cx="285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15F"/>
          </a:solidFill>
          <a:ln xmlns:a="http://schemas.openxmlformats.org/drawingml/2006/main" w="9525">
            <a:solidFill>
              <a:srgbClr val="128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07D23-294A-4469-A183-B8BD9C73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290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15F"/>
                </a:solidFill>
              </a:defRPr>
            </a:pPr>
            <a:r>
              <a:rPr sz="1200" b="1">
                <a:solidFill>
                  <a:srgbClr val="12815F"/>
                </a:solidFill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C8898-3B9A-43F3-BFFB-3DFA8FAA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balanced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4A269-B85C-4CDF-8A29-0FB1F971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76800"/>
            <a:ext cx="16192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E7EE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640DE-245B-4548-86FA-4D2C235C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876800"/>
            <a:ext cx="235763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786A6"/>
          </a:solidFill>
          <a:ln xmlns:a="http://schemas.openxmlformats.org/drawingml/2006/main" w="9525">
            <a:solidFill>
              <a:srgbClr val="078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189DE-E280-452D-8415-831BA736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482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6A6"/>
                </a:solidFill>
              </a:defRPr>
            </a:pPr>
            <a:r>
              <a:rPr sz="1200" b="1">
                <a:solidFill>
                  <a:srgbClr val="0786A6"/>
                </a:solidFill>
              </a:rPr>
              <a:t>3.64%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1CC02-9B72-4502-AF43-59FE591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8577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8CF36-FD8D-4F92-AC8D-94009A9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吞吐 / p99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01BF6-4DB1-40A6-88D3-A46A94A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SWRR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9D661-E730-4494-AFA8-9376FEB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6"/>
                </a:solidFill>
              </a:defRPr>
            </a:pPr>
            <a:r>
              <a:rPr sz="1350" b="1">
                <a:solidFill>
                  <a:srgbClr val="C43D36"/>
                </a:solidFill>
              </a:rPr>
              <a:t>77.51 QPS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C1956-79F3-4D46-97F9-C23174B6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p99 279.10ms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239AA-2001-4CF0-8F8F-2DFBE65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P2C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0CAE4-00AC-45D3-9FC0-5AF6947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15F"/>
                </a:solidFill>
              </a:defRPr>
            </a:pPr>
            <a:r>
              <a:rPr sz="1350" b="1">
                <a:solidFill>
                  <a:srgbClr val="12815F"/>
                </a:solidFill>
              </a:rPr>
              <a:t>92.51 QPS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3E47E-74A6-4543-A227-365BE13C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p99 222.68ms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D1A92-0F18-4DFD-B9D1-D4BE0CC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balanced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C069E6-F7BB-4BB9-A2C8-00E2E343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6A6"/>
                </a:solidFill>
              </a:defRPr>
            </a:pPr>
            <a:r>
              <a:rPr sz="1350" b="1">
                <a:solidFill>
                  <a:srgbClr val="0786A6"/>
                </a:solidFill>
              </a:rPr>
              <a:t>95.13 QPS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C9110-DF8A-4FCB-90D7-0931C57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29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p99 214.18ms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41F28-8A8D-4C7E-9974-64E0A45A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结论：动态组在吞吐和 p99 上优于基线；p95 未夸大，报告中如实说明。</a:t>
            </a:r>
          </a:p>
        </p:txBody>
      </p:sp>
    </p:spTree>
    <p:extLst>
      <p:ext uri="{BB962C8B-B14F-4D97-AF65-F5344CB8AC3E}">
        <p14:creationId xmlns:p14="http://schemas.microsoft.com/office/powerpoint/2010/main" val="439988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86BC4-BE0E-40AB-BBA9-DFFCF89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47DD2-F445-4799-8C7C-BDF3B32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6A6"/>
                </a:solidFill>
              </a:defRPr>
            </a:pPr>
            <a:r>
              <a:rPr sz="1125" b="1">
                <a:solidFill>
                  <a:srgbClr val="0786A6"/>
                </a:solidFill>
              </a:rPr>
              <a:t>初赛提交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E4AC8-AEBD-49DF-8A32-B035E2F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设计方案、技术路线图、原型视频与真实数据均已归档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339F0-7D1E-4BA2-9192-D294C804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可选择代码仓库提交；视频上传至项目数据集。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50BB-ABD6-41C8-B53A-E74D8C16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DEC40-2BF6-4C4A-A9EE-ABCBE4C5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suan-router / Ascend NPU 3-7 / vLLM-Ascend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E27D-33F3-46F4-910C-8FBF399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5"/>
                </a:solidFill>
              </a:defRPr>
            </a:pPr>
            <a:r>
              <a:rPr sz="825" b="0">
                <a:solidFill>
                  <a:srgbClr val="5B6675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A1DD6-C051-4A2D-B530-49B2A58D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9982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5CEA3-8DF0-472B-9474-150EB29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CBB4C-965E-48F0-96B9-0C91138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6A6"/>
                </a:solidFill>
              </a:defRPr>
            </a:pPr>
            <a:r>
              <a:rPr sz="1350" b="1">
                <a:solidFill>
                  <a:srgbClr val="0786A6"/>
                </a:solidFill>
              </a:rPr>
              <a:t>设计方案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56686-A9E8-4FA7-8A78-1A50792C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README.md + docs/final-report.md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FBBC6-CD1B-4FD4-B5E6-62D8CF6D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982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F3F26-9EF5-48A4-8B7A-738B9E69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3DFA9-CDDB-4978-A045-D76E2B60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15F"/>
                </a:solidFill>
              </a:defRPr>
            </a:pPr>
            <a:r>
              <a:rPr sz="1350" b="1">
                <a:solidFill>
                  <a:srgbClr val="12815F"/>
                </a:solidFill>
              </a:rPr>
              <a:t>技术路线图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94283-6B2F-4391-8A57-A8E2C0F1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813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docs/experiments.md + docs/optimization-and-validation.md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10611-BAE9-4419-A082-792440AF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9982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8285F-21A5-464A-97DB-345220BD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C7D62-7C96-49AC-8C59-78D5FB1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A00"/>
                </a:solidFill>
              </a:defRPr>
            </a:pPr>
            <a:r>
              <a:rPr sz="1350" b="1">
                <a:solidFill>
                  <a:srgbClr val="C47A00"/>
                </a:solidFill>
              </a:rPr>
              <a:t>原型视频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E5430-F72C-4607-A86E-6472DCE1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00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docs/demo/prototype-demo-final.mp4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42DED-60AE-4507-8585-06F0A1F8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9982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127B5-9C2E-4929-A397-CED36B7C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63388-A711-4A31-AFC4-9D29C73B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真实实验数据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86842-8ABB-454C-87EA-A716020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19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bench/results/formal/analysis + exp1-exp8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00614-C35F-4289-83B5-7ADC00C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99822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1DB71-94FE-4A14-81CF-8ACC378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安全边界：不杀无关任务；只清理自己启动的 router PID；7B 临时容器实验后删除释放 NPU。</a:t>
            </a:r>
          </a:p>
        </p:txBody>
      </p:sp>
    </p:spTree>
    <p:extLst>
      <p:ext uri="{BB962C8B-B14F-4D97-AF65-F5344CB8AC3E}">
        <p14:creationId xmlns:p14="http://schemas.microsoft.com/office/powerpoint/2010/main" val="395920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2026-06-28T13:28:08.3360000Z</dcterms:created>
  <dcterms:modified xsi:type="dcterms:W3CDTF">2026-06-28T13:28:08.3360000Z</dcterms:modified>
</coreProperties>
</file>